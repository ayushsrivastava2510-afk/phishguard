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judges, over 91% of cyber breaches and banking frauds in India begin with a malicious email. Today, Team Binary Battalion presents PhishGuard Mail Sentinel: an autonomous cyber intelligence platform that transforms in-inbox threat detection, unwinds 3D global attacker origin, and generates Section 65B court-admissible forensic evidence in under 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judges, Slide 2 articulates our proposed solution. Traditional spam filters are passive black boxes that hide the evidence, and enterprise gateways cost lakhs per year. PhishGuard solves this with a two-tier innovation: First, a zero-friction Chrome Extension embedded inside Gmail and Outlook. Second, an automated forensic SOC that traces 3D physical origin, correlates crime syndicates with graph theory, and exports court-admissible legal dossiers.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presents our technical approach. Our architecture executes a seamless 5-step pipeline: Ingestion hashes the email for legal chain of custody; cryptographic verification inspects DNS protocols; machine learning and GeoIP pinpoint server coordinates; graph theory unmasks criminal syndicates; and automated playbooks produce firewall rules and court-certified PDF dossiers in 1.8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Judges, regarding feasibility and viability: PhishGuard is not a theoretical concept — it is a fully functioning working prototype tested on real personal inboxes. We have actively addressed key risks: multi-hop relay obfuscation is solved via recursive header traversal and MX gateway resolution; zero-day lookalikes are detected using Levenshtein distance matching; and false positives are prevented through our weighted multi-layer scoring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demonstrates our national impact. PhishGuard empowers 850 million Indian internet users with a 1-click cyber defense shield, safeguards MSMEs from catastrophic wire fraud, and cuts police investigation time by 99%. Economically, this protects thousands of crores in digital assets, advancing the vision of a resilient, secure Digital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Slide 6 grounds PhishGuard in authoritative legal, cryptographic, and academic foundations. Our digital evidence engine complies strictly with Section 65B of the Bharatiya Sakshya Adhiniyam, the IT Act 2000, and ISO/IEC 27037 guidelines. Our protocol inspection adheres to IETF RFCs 5322, 7208, 6376, and 7489, and our incident outputs align directly with CERT-In and NCRP reporting standards. Thank you, and we are now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920240" cy="8836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A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19365D"/>
                </a:solidFill>
                <a:latin typeface="Georgia"/>
              </a:defRPr>
            </a:pPr>
            <a:r>
              <a:t>SMART INDIA HACKATHON 2026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41821"/>
                </a:solidFill>
                <a:latin typeface="Georgia"/>
              </a:defRPr>
            </a:pPr>
            <a:r>
              <a:t>TITLE PAGE</a:t>
            </a:r>
          </a:p>
        </p:txBody>
      </p:sp>
      <p:pic>
        <p:nvPicPr>
          <p:cNvPr id="7" name="Picture 6" descr="sih_brai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389120" cy="5181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500" b="1">
                <a:solidFill>
                  <a:srgbClr val="141821"/>
                </a:solidFill>
                <a:latin typeface="Georgia"/>
              </a:defRPr>
            </a:pPr>
            <a:r>
              <a:t>• Problem Statement ID –</a:t>
            </a:r>
            <a:r>
              <a:rPr b="0">
                <a:solidFill>
                  <a:srgbClr val="64748B"/>
                </a:solidFill>
                <a:latin typeface="Calibri"/>
              </a:rPr>
              <a:t> [Your PS ID / e.g. SIH2026-Cyber01]</a:t>
            </a:r>
          </a:p>
          <a:p>
            <a:pPr>
              <a:spcBef>
                <a:spcPts val="1200"/>
              </a:spcBef>
              <a:defRPr sz="1500" b="1">
                <a:solidFill>
                  <a:srgbClr val="141821"/>
                </a:solidFill>
                <a:latin typeface="Georgia"/>
              </a:defRPr>
            </a:pPr>
            <a:r>
              <a:t>• Problem Statement Title -</a:t>
            </a:r>
            <a:r>
              <a:rPr b="1">
                <a:solidFill>
                  <a:srgbClr val="19579D"/>
                </a:solidFill>
                <a:latin typeface="Calibri"/>
              </a:rPr>
              <a:t> Advanced Email Threat Attribution &amp; Forensic SOC</a:t>
            </a:r>
          </a:p>
          <a:p>
            <a:pPr>
              <a:spcBef>
                <a:spcPts val="1200"/>
              </a:spcBef>
              <a:defRPr sz="1500" b="1">
                <a:solidFill>
                  <a:srgbClr val="141821"/>
                </a:solidFill>
                <a:latin typeface="Georgia"/>
              </a:defRPr>
            </a:pPr>
            <a:r>
              <a:t>• Theme -</a:t>
            </a:r>
            <a:r>
              <a:rPr b="1">
                <a:solidFill>
                  <a:srgbClr val="19579D"/>
                </a:solidFill>
                <a:latin typeface="Calibri"/>
              </a:rPr>
              <a:t> Cybersecurity &amp; Digital Forensics / Smart Automation</a:t>
            </a:r>
          </a:p>
          <a:p>
            <a:pPr>
              <a:spcBef>
                <a:spcPts val="1200"/>
              </a:spcBef>
              <a:defRPr sz="1500" b="1">
                <a:solidFill>
                  <a:srgbClr val="141821"/>
                </a:solidFill>
                <a:latin typeface="Georgia"/>
              </a:defRPr>
            </a:pPr>
            <a:r>
              <a:t>• PS Category -</a:t>
            </a:r>
            <a:r>
              <a:rPr b="1">
                <a:solidFill>
                  <a:srgbClr val="19579D"/>
                </a:solidFill>
                <a:latin typeface="Calibri"/>
              </a:rPr>
              <a:t> Software</a:t>
            </a:r>
          </a:p>
          <a:p>
            <a:pPr>
              <a:spcBef>
                <a:spcPts val="1200"/>
              </a:spcBef>
              <a:defRPr sz="1500" b="1">
                <a:solidFill>
                  <a:srgbClr val="141821"/>
                </a:solidFill>
                <a:latin typeface="Georgia"/>
              </a:defRPr>
            </a:pPr>
            <a:r>
              <a:t>• Team ID -</a:t>
            </a:r>
            <a:r>
              <a:rPr b="0">
                <a:solidFill>
                  <a:srgbClr val="64748B"/>
                </a:solidFill>
                <a:latin typeface="Calibri"/>
              </a:rPr>
              <a:t> [Your Team ID]</a:t>
            </a:r>
          </a:p>
          <a:p>
            <a:pPr>
              <a:spcBef>
                <a:spcPts val="1200"/>
              </a:spcBef>
              <a:defRPr sz="1500" b="1">
                <a:solidFill>
                  <a:srgbClr val="141821"/>
                </a:solidFill>
                <a:latin typeface="Georgia"/>
              </a:defRPr>
            </a:pPr>
            <a:r>
              <a:t>• Team Name (Registered on portal) -</a:t>
            </a:r>
            <a:r>
              <a:rPr b="1">
                <a:solidFill>
                  <a:srgbClr val="19579D"/>
                </a:solidFill>
                <a:latin typeface="Calibri"/>
              </a:rPr>
              <a:t> Binary Battalion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59436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7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300" b="1">
                <a:solidFill>
                  <a:srgbClr val="19579D"/>
                </a:solidFill>
                <a:latin typeface="Calibri"/>
              </a:defRPr>
            </a:pPr>
            <a:r>
              <a:t>PROJECT: PHISHGUARD MAIL SENTINEL</a:t>
            </a:r>
          </a:p>
          <a:p>
            <a:pPr>
              <a:spcBef>
                <a:spcPts val="300"/>
              </a:spcBef>
              <a:defRPr sz="1100" b="1">
                <a:solidFill>
                  <a:srgbClr val="141821"/>
                </a:solidFill>
                <a:latin typeface="Calibri"/>
              </a:defRPr>
            </a:pPr>
            <a:r>
              <a:t>AI-Powered Email Threat Detection, 3D Origin Geolocation &amp; Forensic Intelligence Platform</a:t>
            </a:r>
          </a:p>
          <a:p>
            <a:pPr>
              <a:spcBef>
                <a:spcPts val="300"/>
              </a:spcBef>
              <a:defRPr sz="1000" i="1">
                <a:solidFill>
                  <a:srgbClr val="109566"/>
                </a:solidFill>
                <a:latin typeface="Calibri"/>
              </a:defRPr>
            </a:pPr>
            <a:r>
              <a:t>Tagline: "From In-Inbox Threat Interception to Section 65B BSA Digital Evidence in Under 2 Seconds"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920240" cy="8836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65760" y="201168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Binary</a:t>
            </a:r>
          </a:p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Battalion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92608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41821"/>
                </a:solidFill>
                <a:latin typeface="Georgia"/>
              </a:defRPr>
            </a:pPr>
            <a:r>
              <a:t>IDEA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A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u="sng">
                <a:solidFill>
                  <a:srgbClr val="19579D"/>
                </a:solidFill>
                <a:latin typeface="Calibri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Detailed explanation of the proposed solution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Dual-Tier Defense: </a:t>
            </a:r>
            <a:r>
              <a:rPr b="0">
                <a:solidFill>
                  <a:srgbClr val="141821"/>
                </a:solidFill>
              </a:rPr>
              <a:t>Combines an In-Inbox Chrome Extension (1-click scan inside Gmail &amp; Outlook Web) with an Enterprise SOC Forensic Dashboard.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Multi-Layer Inspection: </a:t>
            </a:r>
            <a:r>
              <a:rPr b="0">
                <a:solidFill>
                  <a:srgbClr val="141821"/>
                </a:solidFill>
              </a:rPr>
              <a:t>Parses raw RFC 5322 headers, verifies SPF/DKIM/DMARC DNS cryptography, and scores semantic urgency via NLP.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- 3D Global Geolocation: </a:t>
            </a:r>
            <a:r>
              <a:rPr b="0">
                <a:solidFill>
                  <a:srgbClr val="141821"/>
                </a:solidFill>
              </a:rPr>
              <a:t>Reconstructs relay hops, identifies rogue datacenters/Tor nodes, and plots interactive flight trajectories on Deck.gl.</a:t>
            </a:r>
          </a:p>
          <a:p>
            <a:pPr>
              <a:spcBef>
                <a:spcPts val="80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How it addresses the problem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Eliminates Investigation Lag: </a:t>
            </a:r>
            <a:r>
              <a:rPr b="0">
                <a:solidFill>
                  <a:srgbClr val="141821"/>
                </a:solidFill>
              </a:rPr>
              <a:t>Replaces 2+ hours of tedious manual header analysis with instant 1.8-second automated forensic triage.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Bridges Citizen &amp; Police Gap: </a:t>
            </a:r>
            <a:r>
              <a:rPr b="0">
                <a:solidFill>
                  <a:srgbClr val="141821"/>
                </a:solidFill>
              </a:rPr>
              <a:t>Gives non-technical users 1-click protection while auto-generating FIR-ready evidence dossiers for cyber police.</a:t>
            </a:r>
          </a:p>
          <a:p>
            <a:pPr>
              <a:spcBef>
                <a:spcPts val="80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Innovation and uniqueness of the solution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Novel Convergence: </a:t>
            </a:r>
            <a:r>
              <a:rPr b="0">
                <a:solidFill>
                  <a:srgbClr val="141821"/>
                </a:solidFill>
              </a:rPr>
              <a:t>First-ever solution combining consumer in-inbox scanning, 3D origin physics mapping, graph syndicate clustering, and Section 65B BSA court admissibility.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Zero-Cost Sovereignty: </a:t>
            </a:r>
            <a:r>
              <a:rPr b="0">
                <a:solidFill>
                  <a:srgbClr val="141821"/>
                </a:solidFill>
              </a:rPr>
              <a:t>Built entirely on open threat intelligence with zero dependence on expensive proprietary foreign security gateways.</a:t>
            </a:r>
          </a:p>
        </p:txBody>
      </p:sp>
      <p:pic>
        <p:nvPicPr>
          <p:cNvPr id="10" name="Picture 9" descr="competitive_comparison_infographic_17887711808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5440680" cy="3036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920240" cy="8836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65760" y="201168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Binary</a:t>
            </a:r>
          </a:p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Battalion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92608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41821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A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30352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Technologies to be used (languages, frameworks, hardware)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Client Extension: </a:t>
            </a:r>
            <a:r>
              <a:rPr b="0">
                <a:solidFill>
                  <a:srgbClr val="141821"/>
                </a:solidFill>
              </a:rPr>
              <a:t>Chrome Manifest V3, JavaScript (ES6+), DOM MutationObservers, Background Service Workers.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SOC Engine &amp; ML: </a:t>
            </a:r>
            <a:r>
              <a:rPr b="0">
                <a:solidFill>
                  <a:srgbClr val="141821"/>
                </a:solidFill>
              </a:rPr>
              <a:t>Python 3.11+, Scikit-Learn (TF-IDF NLP Classifier), dnspython, python-whois, ip-api / MaxMind GeoIP.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Graph &amp; 3D Visualization: </a:t>
            </a:r>
            <a:r>
              <a:rPr b="0">
                <a:solidFill>
                  <a:srgbClr val="141821"/>
                </a:solidFill>
              </a:rPr>
              <a:t>NetworkX (Syndicate Graph Clustering), Vis.js Physics Engine, Pydeck (Uber Deck.gl 3D Engine).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Forensics &amp; Reporting: </a:t>
            </a:r>
            <a:r>
              <a:rPr b="0">
                <a:solidFill>
                  <a:srgbClr val="141821"/>
                </a:solidFill>
              </a:rPr>
              <a:t>ReportLab PDF Engine, SHA-256 &amp; MD5 Cryptographic Hashes, RFC 5322 EML Parser.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Hardware &amp; Infra: </a:t>
            </a:r>
            <a:r>
              <a:rPr b="0">
                <a:solidFill>
                  <a:srgbClr val="141821"/>
                </a:solidFill>
              </a:rPr>
              <a:t>Zero GPU requirement; runs on lightweight Docker microservice (&lt; 50MB RAM) on commodity hardware.</a:t>
            </a:r>
          </a:p>
          <a:p>
            <a:pPr>
              <a:spcBef>
                <a:spcPts val="80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Methodology and process for implementation (5-Step Pipeline)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- 1. Ingestion &amp; Integrity: </a:t>
            </a:r>
            <a:r>
              <a:rPr b="0">
                <a:solidFill>
                  <a:srgbClr val="141821"/>
                </a:solidFill>
              </a:rPr>
              <a:t>Chrome DOM capture or EML upload; immediate SHA-256 tamper-evident hashing.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- 2. Cryptographic Audit: </a:t>
            </a:r>
            <a:r>
              <a:rPr b="0">
                <a:solidFill>
                  <a:srgbClr val="141821"/>
                </a:solidFill>
              </a:rPr>
              <a:t>Automated DNS query for SPF records, DKIM digital signatures, DMARC policy.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- 3. NLP &amp; Geolocation: </a:t>
            </a:r>
            <a:r>
              <a:rPr b="0">
                <a:solidFill>
                  <a:srgbClr val="141821"/>
                </a:solidFill>
              </a:rPr>
              <a:t>Semantic intent scoring + primary MX gateway IP physical coordinate resolution.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- 4. Graph Attribution: </a:t>
            </a:r>
            <a:r>
              <a:rPr b="0">
                <a:solidFill>
                  <a:srgbClr val="141821"/>
                </a:solidFill>
              </a:rPr>
              <a:t>Graph theory links isolated attacks sharing rogue IPs/ASNs into crime clusters.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- 5. Containment &amp; Dossier: </a:t>
            </a:r>
            <a:r>
              <a:rPr b="0">
                <a:solidFill>
                  <a:srgbClr val="141821"/>
                </a:solidFill>
              </a:rPr>
              <a:t>1-click firewall rules (iptables/Palo Alto) + Section 65B BSA legal PDF export.</a:t>
            </a:r>
          </a:p>
        </p:txBody>
      </p:sp>
      <p:pic>
        <p:nvPicPr>
          <p:cNvPr id="9" name="Picture 8" descr="soc_architecture_infographic_17887711483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623560" cy="31387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920240" cy="8836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65760" y="201168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Binary</a:t>
            </a:r>
          </a:p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Battalion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92608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41821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A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95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Analysis of the feasibility of the idea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Technical Feasibility: </a:t>
            </a:r>
            <a:r>
              <a:rPr b="0">
                <a:solidFill>
                  <a:srgbClr val="141821"/>
                </a:solidFill>
              </a:rPr>
              <a:t>Working prototype fully implemented and validated on live Gmail and Outlook inboxes with sub-2s response latency.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Economic Viability: </a:t>
            </a:r>
            <a:r>
              <a:rPr b="0">
                <a:solidFill>
                  <a:srgbClr val="141821"/>
                </a:solidFill>
              </a:rPr>
              <a:t>Zero licensing fees; built entirely on open-source intelligence and public DNS/GeoIP infrastructure, eliminating expensive proprietary subscriptions.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Operational Viability: </a:t>
            </a:r>
            <a:r>
              <a:rPr b="0">
                <a:solidFill>
                  <a:srgbClr val="141821"/>
                </a:solidFill>
              </a:rPr>
              <a:t>Zero training curve for citizens (1-click browser button); turnkey REST API allows rapid integration into existing enterprise SIEM/SOAR platforms.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Potential challenges and risks</a:t>
            </a:r>
          </a:p>
          <a:p>
            <a:pPr>
              <a:spcBef>
                <a:spcPts val="300"/>
              </a:spcBef>
              <a:defRPr sz="1050" b="1">
                <a:solidFill>
                  <a:srgbClr val="DC2626"/>
                </a:solidFill>
                <a:latin typeface="Calibri"/>
              </a:defRPr>
            </a:pPr>
            <a:r>
              <a:t>   - Infrastructure Masking: </a:t>
            </a:r>
            <a:r>
              <a:rPr b="0">
                <a:solidFill>
                  <a:srgbClr val="141821"/>
                </a:solidFill>
              </a:rPr>
              <a:t>Cybercriminals route emails through Tor exit nodes, commercial VPNs, or multi-hop open relays to conceal physical origin.</a:t>
            </a:r>
          </a:p>
          <a:p>
            <a:pPr>
              <a:spcBef>
                <a:spcPts val="300"/>
              </a:spcBef>
              <a:defRPr sz="1050" b="1">
                <a:solidFill>
                  <a:srgbClr val="DC2626"/>
                </a:solidFill>
                <a:latin typeface="Calibri"/>
              </a:defRPr>
            </a:pPr>
            <a:r>
              <a:t>   - Zero-Day Typosquatting: </a:t>
            </a:r>
            <a:r>
              <a:rPr b="0">
                <a:solidFill>
                  <a:srgbClr val="141821"/>
                </a:solidFill>
              </a:rPr>
              <a:t>Newly registered lookalike domains (e.g., sbi-kyc-verify.com) not yet indexed in global antivirus blacklists.</a:t>
            </a:r>
          </a:p>
          <a:p>
            <a:pPr>
              <a:spcBef>
                <a:spcPts val="300"/>
              </a:spcBef>
              <a:defRPr sz="1050" b="1">
                <a:solidFill>
                  <a:srgbClr val="DC2626"/>
                </a:solidFill>
                <a:latin typeface="Calibri"/>
              </a:defRPr>
            </a:pPr>
            <a:r>
              <a:t>   - False Positives: </a:t>
            </a:r>
            <a:r>
              <a:rPr b="0">
                <a:solidFill>
                  <a:srgbClr val="141821"/>
                </a:solidFill>
              </a:rPr>
              <a:t>Over-aggressive heuristic filters risk flagging legitimate transactional banking notifications or bulk enterprise marketing emails.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26280"/>
            <a:ext cx="110642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Strategies for overcoming these challenges</a:t>
            </a:r>
          </a:p>
          <a:p>
            <a:pPr>
              <a:spcBef>
                <a:spcPts val="300"/>
              </a:spcBef>
              <a:defRPr sz="1050" b="1">
                <a:solidFill>
                  <a:srgbClr val="109566"/>
                </a:solidFill>
                <a:latin typeface="Calibri"/>
              </a:defRPr>
            </a:pPr>
            <a:r>
              <a:t>   - Multi-Hop Fallback Attribution: </a:t>
            </a:r>
            <a:r>
              <a:rPr b="0">
                <a:solidFill>
                  <a:srgbClr val="141821"/>
                </a:solidFill>
              </a:rPr>
              <a:t>Algorithmic traversal of the full Received header chain combined with fallback to primary MX gateway DNS A-records ensures reliable server resolution.</a:t>
            </a:r>
          </a:p>
          <a:p>
            <a:pPr>
              <a:spcBef>
                <a:spcPts val="300"/>
              </a:spcBef>
              <a:defRPr sz="1050" b="1">
                <a:solidFill>
                  <a:srgbClr val="109566"/>
                </a:solidFill>
                <a:latin typeface="Calibri"/>
              </a:defRPr>
            </a:pPr>
            <a:r>
              <a:t>   - Algorithmic Lookalike Detection: </a:t>
            </a:r>
            <a:r>
              <a:rPr b="0">
                <a:solidFill>
                  <a:srgbClr val="141821"/>
                </a:solidFill>
              </a:rPr>
              <a:t>Levenshtein distance calculation dynamically compares sender domains against legitimate Indian banking and enterprise brand registries.</a:t>
            </a:r>
          </a:p>
          <a:p>
            <a:pPr>
              <a:spcBef>
                <a:spcPts val="300"/>
              </a:spcBef>
              <a:defRPr sz="1050" b="1">
                <a:solidFill>
                  <a:srgbClr val="109566"/>
                </a:solidFill>
                <a:latin typeface="Calibri"/>
              </a:defRPr>
            </a:pPr>
            <a:r>
              <a:t>   - Weighted Multi-Layer Scoring: </a:t>
            </a:r>
            <a:r>
              <a:rPr b="0">
                <a:solidFill>
                  <a:srgbClr val="141821"/>
                </a:solidFill>
              </a:rPr>
              <a:t>Heuristic engine balances cryptographic authentication (SPF/DKIM), domain age, and NLP semantic urgency, preventing false alarms.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920240" cy="8836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65760" y="201168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Binary</a:t>
            </a:r>
          </a:p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Battalion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92608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41821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A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303520" cy="4892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Potential impact on the target audience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- 850M+ Indian Citizens: </a:t>
            </a:r>
            <a:r>
              <a:rPr b="0">
                <a:solidFill>
                  <a:srgbClr val="141821"/>
                </a:solidFill>
              </a:rPr>
              <a:t>Provides an intuitive in-inbox security shield against fraudulent SBI/HDFC KYC alerts, Aadhaar panics, and fake tax refund schemes.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MSMEs &amp; Enterprises: </a:t>
            </a:r>
            <a:r>
              <a:rPr b="0">
                <a:solidFill>
                  <a:srgbClr val="141821"/>
                </a:solidFill>
              </a:rPr>
              <a:t>Prevents Business Email Compromise (BEC) and unauthorized vendor wire diversions without requiring expensive cybersecurity teams.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Law Enforcement &amp; Cyber Cells: </a:t>
            </a:r>
            <a:r>
              <a:rPr b="0">
                <a:solidFill>
                  <a:srgbClr val="141821"/>
                </a:solidFill>
              </a:rPr>
              <a:t>Reduces manual header analysis from 2 hours to 2 seconds, automating FIR documentation and court-ready evidentiary packages.</a:t>
            </a:r>
          </a:p>
          <a:p>
            <a:pPr>
              <a:spcBef>
                <a:spcPts val="800"/>
              </a:spcBef>
              <a:defRPr sz="1300" b="1">
                <a:solidFill>
                  <a:srgbClr val="141821"/>
                </a:solidFill>
                <a:latin typeface="Calibri"/>
              </a:defRPr>
            </a:pPr>
            <a:r>
              <a:t>• Benefits of the solution (social, economic, environmental, etc.)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Social Benefit: </a:t>
            </a:r>
            <a:r>
              <a:rPr b="0">
                <a:solidFill>
                  <a:srgbClr val="141821"/>
                </a:solidFill>
              </a:rPr>
              <a:t>Protects non-tech-savvy citizens and senior citizens from life-savings extortion; dramatically boosts public trust in Digital India.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Economic Benefit: </a:t>
            </a:r>
            <a:r>
              <a:rPr b="0">
                <a:solidFill>
                  <a:srgbClr val="141821"/>
                </a:solidFill>
              </a:rPr>
              <a:t>Mitigates thousands of crores in annual financial fraud losses; provides free enterprise-grade protection to public institutions and small businesses.</a:t>
            </a:r>
          </a:p>
          <a:p>
            <a:pPr>
              <a:spcBef>
                <a:spcPts val="300"/>
              </a:spcBef>
              <a:defRPr sz="1050" b="1">
                <a:solidFill>
                  <a:srgbClr val="19579D"/>
                </a:solidFill>
                <a:latin typeface="Calibri"/>
              </a:defRPr>
            </a:pPr>
            <a:r>
              <a:t>   - Environmental &amp; Operational: </a:t>
            </a:r>
            <a:r>
              <a:rPr b="0">
                <a:solidFill>
                  <a:srgbClr val="141821"/>
                </a:solidFill>
              </a:rPr>
              <a:t>Ultra-lightweight architecture (&lt;50MB RAM) runs on existing consumer hardware without requiring power-hungry server farms or dedicated GPU clusters.</a:t>
            </a:r>
          </a:p>
        </p:txBody>
      </p:sp>
      <p:pic>
        <p:nvPicPr>
          <p:cNvPr id="9" name="Picture 8" descr="phishing_threat_landscape_17887712062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623560" cy="31387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920240" cy="8836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65760" y="201168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Binary</a:t>
            </a:r>
          </a:p>
          <a:p>
            <a:pPr algn="ctr">
              <a:defRPr sz="1200" b="1">
                <a:solidFill>
                  <a:srgbClr val="141821"/>
                </a:solidFill>
                <a:latin typeface="Georgia"/>
              </a:defRPr>
            </a:pPr>
            <a:r>
              <a:t>Battalion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92608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41821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A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141821"/>
                </a:solidFill>
                <a:latin typeface="Calibri"/>
              </a:defRPr>
            </a:pPr>
            <a:r>
              <a:t>• Details / Links of the reference and research work: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9496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95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200" b="1">
                <a:solidFill>
                  <a:srgbClr val="141821"/>
                </a:solidFill>
                <a:latin typeface="Calibri"/>
              </a:defRPr>
            </a:pPr>
            <a:r>
              <a:t>🏛️ Sovereign Indian Legal &amp; Regulatory Framework</a:t>
            </a:r>
          </a:p>
          <a:p>
            <a:pPr>
              <a:spcBef>
                <a:spcPts val="300"/>
              </a:spcBef>
              <a:defRPr sz="950" b="1">
                <a:solidFill>
                  <a:srgbClr val="19579D"/>
                </a:solidFill>
                <a:latin typeface="Calibri"/>
              </a:defRPr>
            </a:pPr>
            <a:r>
              <a:t>• Bharatiya Sakshya Adhiniyam (BSA, 2023) - Section 65B: </a:t>
            </a:r>
            <a:r>
              <a:rPr b="0">
                <a:solidFill>
                  <a:srgbClr val="141821"/>
                </a:solidFill>
              </a:rPr>
              <a:t>Governs admissibility of electronic records in Indian courts, requiring SHA-256 chain-of-custody hashes.</a:t>
            </a:r>
          </a:p>
          <a:p>
            <a:pPr>
              <a:spcBef>
                <a:spcPts val="300"/>
              </a:spcBef>
              <a:defRPr sz="950" b="1">
                <a:solidFill>
                  <a:srgbClr val="19579D"/>
                </a:solidFill>
                <a:latin typeface="Calibri"/>
              </a:defRPr>
            </a:pPr>
            <a:r>
              <a:t>• Information Technology Act, 2000 (India): </a:t>
            </a:r>
            <a:r>
              <a:rPr b="0">
                <a:solidFill>
                  <a:srgbClr val="141821"/>
                </a:solidFill>
              </a:rPr>
              <a:t>Section 43 (Data theft), Section 66C (Identity Theft), Section 66D (Cheating by personation).</a:t>
            </a:r>
          </a:p>
          <a:p>
            <a:pPr>
              <a:spcBef>
                <a:spcPts val="300"/>
              </a:spcBef>
              <a:defRPr sz="950" b="1">
                <a:solidFill>
                  <a:srgbClr val="19579D"/>
                </a:solidFill>
                <a:latin typeface="Calibri"/>
              </a:defRPr>
            </a:pPr>
            <a:r>
              <a:t>• Supreme Court of India Precedent: </a:t>
            </a:r>
            <a:r>
              <a:rPr b="0">
                <a:solidFill>
                  <a:srgbClr val="141821"/>
                </a:solidFill>
              </a:rPr>
              <a:t>Arjun Panditrao vs Kailash Kushanrao (2020) establishing mandatory Section 65B electronic certificates.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200" b="1">
                <a:solidFill>
                  <a:srgbClr val="141821"/>
                </a:solidFill>
                <a:latin typeface="Calibri"/>
              </a:defRPr>
            </a:pPr>
            <a:r>
              <a:t>🌐 Internet &amp; Email Cryptographic Standards (IETF RFCs)</a:t>
            </a:r>
          </a:p>
          <a:p>
            <a:pPr>
              <a:spcBef>
                <a:spcPts val="300"/>
              </a:spcBef>
              <a:defRPr sz="950" b="1">
                <a:solidFill>
                  <a:srgbClr val="109566"/>
                </a:solidFill>
                <a:latin typeface="Calibri"/>
              </a:defRPr>
            </a:pPr>
            <a:r>
              <a:t>• IETF RFC 5322: </a:t>
            </a:r>
            <a:r>
              <a:rPr b="0">
                <a:solidFill>
                  <a:srgbClr val="141821"/>
                </a:solidFill>
              </a:rPr>
              <a:t>Internet Message Format - Syntax and structure of email headers, envelopes, and multipart MIME bodies.</a:t>
            </a:r>
          </a:p>
          <a:p>
            <a:pPr>
              <a:spcBef>
                <a:spcPts val="300"/>
              </a:spcBef>
              <a:defRPr sz="950" b="1">
                <a:solidFill>
                  <a:srgbClr val="109566"/>
                </a:solidFill>
                <a:latin typeface="Calibri"/>
              </a:defRPr>
            </a:pPr>
            <a:r>
              <a:t>• IETF RFC 7208: </a:t>
            </a:r>
            <a:r>
              <a:rPr b="0">
                <a:solidFill>
                  <a:srgbClr val="141821"/>
                </a:solidFill>
              </a:rPr>
              <a:t>Sender Policy Framework (SPF) - Authorizing mail transfer agents via DNS TXT records.</a:t>
            </a:r>
          </a:p>
          <a:p>
            <a:pPr>
              <a:spcBef>
                <a:spcPts val="300"/>
              </a:spcBef>
              <a:defRPr sz="950" b="1">
                <a:solidFill>
                  <a:srgbClr val="109566"/>
                </a:solidFill>
                <a:latin typeface="Calibri"/>
              </a:defRPr>
            </a:pPr>
            <a:r>
              <a:t>• IETF RFC 6376 &amp; 7489: </a:t>
            </a:r>
            <a:r>
              <a:rPr b="0">
                <a:solidFill>
                  <a:srgbClr val="141821"/>
                </a:solidFill>
              </a:rPr>
              <a:t>DomainKeys Identified Mail (DKIM) &amp; Domain-based Message Authentication, Reporting, and Conformance (DMARC).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39496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200" b="1">
                <a:solidFill>
                  <a:srgbClr val="141821"/>
                </a:solidFill>
                <a:latin typeface="Calibri"/>
              </a:defRPr>
            </a:pPr>
            <a:r>
              <a:t>🛡️ National Cyber Agencies &amp; Incident Response</a:t>
            </a:r>
          </a:p>
          <a:p>
            <a:pPr>
              <a:spcBef>
                <a:spcPts val="300"/>
              </a:spcBef>
              <a:defRPr sz="950" b="1">
                <a:solidFill>
                  <a:srgbClr val="109566"/>
                </a:solidFill>
                <a:latin typeface="Calibri"/>
              </a:defRPr>
            </a:pPr>
            <a:r>
              <a:t>• CERT-In Cyber Security Directions (2022/2024): </a:t>
            </a:r>
            <a:r>
              <a:rPr b="0">
                <a:solidFill>
                  <a:srgbClr val="141821"/>
                </a:solidFill>
              </a:rPr>
              <a:t>Mandates reporting of cyber incidents and preservation of system logs: cert-in.org.in</a:t>
            </a:r>
          </a:p>
          <a:p>
            <a:pPr>
              <a:spcBef>
                <a:spcPts val="300"/>
              </a:spcBef>
              <a:defRPr sz="950" b="1">
                <a:solidFill>
                  <a:srgbClr val="109566"/>
                </a:solidFill>
                <a:latin typeface="Calibri"/>
              </a:defRPr>
            </a:pPr>
            <a:r>
              <a:t>• National Cyber Crime Reporting Portal (NCRP): </a:t>
            </a:r>
            <a:r>
              <a:rPr b="0">
                <a:solidFill>
                  <a:srgbClr val="141821"/>
                </a:solidFill>
              </a:rPr>
              <a:t>Citizen incident reporting architecture under Ministry of Home Affairs: cybercrime.gov.in</a:t>
            </a:r>
          </a:p>
          <a:p>
            <a:pPr>
              <a:spcBef>
                <a:spcPts val="300"/>
              </a:spcBef>
              <a:defRPr sz="950" b="1">
                <a:solidFill>
                  <a:srgbClr val="109566"/>
                </a:solidFill>
                <a:latin typeface="Calibri"/>
              </a:defRPr>
            </a:pPr>
            <a:r>
              <a:t>• MITRE ATT&amp;CK Framework: </a:t>
            </a:r>
            <a:r>
              <a:rPr b="0">
                <a:solidFill>
                  <a:srgbClr val="141821"/>
                </a:solidFill>
              </a:rPr>
              <a:t>Adversary Tactics: Technique T1566 (Phishing) &amp; T1598 (Phishing for Information).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39496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95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200" b="1">
                <a:solidFill>
                  <a:srgbClr val="141821"/>
                </a:solidFill>
                <a:latin typeface="Calibri"/>
              </a:defRPr>
            </a:pPr>
            <a:r>
              <a:t>📊 Industry Benchmarks &amp; Technical Foundations</a:t>
            </a:r>
          </a:p>
          <a:p>
            <a:pPr>
              <a:spcBef>
                <a:spcPts val="300"/>
              </a:spcBef>
              <a:defRPr sz="950" b="1">
                <a:solidFill>
                  <a:srgbClr val="19579D"/>
                </a:solidFill>
                <a:latin typeface="Calibri"/>
              </a:defRPr>
            </a:pPr>
            <a:r>
              <a:t>• Verizon Data Breach Investigations Report (DBIR 2024): </a:t>
            </a:r>
            <a:r>
              <a:rPr b="0">
                <a:solidFill>
                  <a:srgbClr val="141821"/>
                </a:solidFill>
              </a:rPr>
              <a:t>Identifies phishing and credential theft as the primary initial access vector in 91% of global breaches.</a:t>
            </a:r>
          </a:p>
          <a:p>
            <a:pPr>
              <a:spcBef>
                <a:spcPts val="300"/>
              </a:spcBef>
              <a:defRPr sz="950" b="1">
                <a:solidFill>
                  <a:srgbClr val="19579D"/>
                </a:solidFill>
                <a:latin typeface="Calibri"/>
              </a:defRPr>
            </a:pPr>
            <a:r>
              <a:t>• ISO/IEC 27037:2012 Standard: </a:t>
            </a:r>
            <a:r>
              <a:rPr b="0">
                <a:solidFill>
                  <a:srgbClr val="141821"/>
                </a:solidFill>
              </a:rPr>
              <a:t>Guidelines for identification, collection, acquisition, and preservation of digital evidence.</a:t>
            </a:r>
          </a:p>
          <a:p>
            <a:pPr>
              <a:spcBef>
                <a:spcPts val="300"/>
              </a:spcBef>
              <a:defRPr sz="950" b="1">
                <a:solidFill>
                  <a:srgbClr val="19579D"/>
                </a:solidFill>
                <a:latin typeface="Calibri"/>
              </a:defRPr>
            </a:pPr>
            <a:r>
              <a:t>• Scikit-Learn NLP Machine Learning: </a:t>
            </a:r>
            <a:r>
              <a:rPr b="0">
                <a:solidFill>
                  <a:srgbClr val="141821"/>
                </a:solidFill>
              </a:rPr>
              <a:t>Pedregosa et al., Scikit-learn: Machine Learning in Python (TF-IDF vectorization and classification).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