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judges. Over 91% of successful cyber breaches and banking frauds in India start with a single malicious email. Today, our team — Binary Battalion — presents PhishGuard: an end-to-end cyber threat intelligence and forensic platform that transforms how organizations, citizens, and cyber police investigate and neutralize phishing attacks.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Judges, look at the screen. Scammers are no longer just sending generic spam. In India, they deploy weaponized financial fraud: fake SBI KYC panics, CFO wire diversion, and dark-web bulletproof hosting. When a victim or enterprise is attacked, existing tools drop the email into a spam folder without investigation. Cyber cells take hours to trace headers manually, and critical digital evidence is routinely rejected in court because proper chain-of-custody hashes were never preserved.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solve this, we built PhishGuard. It operates on two powerful levels: First, a seamless Chrome browser extension that gives every citizen and corporate employee a 1-click cyber analyst right inside their daily Gmail or Outlook inbox. Second, an enterprise SOC dashboard that unwinds the email's hidden postal stamps, plots the attacker's physical server across the globe on a 3D trajectory, connects shared attack infrastructure into syndicate clusters, and generates an FIR-ready legal dossier in seconds.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5-step automated pipeline. The moment an email is scanned, PhishGuard hashes the file with SHA-256 for legal integrity. Step 2 validates cryptographic authentication. Step 3 combines NLP machine learning with live DNS and GeoIP resolution to trace the physical server. Step 4 links this attack to historical incidents using graph theory, and Step 5 generates instant firewall containment rules and a court-certified forensic dossier.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Judges, this slide summarizes why PhishGuard is fundamentally superior. Traditional spam filters are passive black boxes — they hide the evidence. Enterprise gateways cost lakhs of rupees and still cannot produce Indian court-compliant documentation. PhishGuard is built from the ground up for Indian sovereignty: zero-cost open threat intelligence, instant 3D origin traceability, and full Section 65B legal admissibility.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our live demo, we will demonstrate 4 realistic attack scenarios: from catching lookalike SBI banking scams to discovering that an attack on an Indian bank and an attack on an IT firm share the exact same attacker IP in Eastern Europe. And we can do this live on our real personal Gmail right in front of you.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cyber tool is useless in India if the evidence cannot stand up in court. Every report PhishGuard generates is backed by immutable SHA-256 cryptographic hashes and carries an automated Section 65B BSA certificate. An investigator can hand our PDF dossier directly to the magistrate or attach it to a Cyber Crime FIR on Day 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ahead, PhishGuard is architected to integrate directly with India's National Cyber Crime Reporting Portal (cybercrime.gov.in) and CERT-In. By eliminating the manual investigation bottleneck and automating court evidence, PhishGuard empowers enterprises, financial institutions, and law enforcement agencies to stay one step ahead of international cybercrime syndicates. Thank you, and we are ready for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32720" cy="4114800"/>
          </a:xfrm>
          <a:prstGeom prst="rect">
            <a:avLst/>
          </a:prstGeom>
          <a:noFill/>
        </p:spPr>
        <p:txBody>
          <a:bodyPr wrap="square">
            <a:spAutoFit/>
          </a:bodyPr>
          <a:lstStyle/>
          <a:p>
            <a:pPr>
              <a:defRPr sz="1400" b="1">
                <a:solidFill>
                  <a:srgbClr val="38BDF8"/>
                </a:solidFill>
              </a:defRPr>
            </a:pPr>
            <a:r>
              <a:t>SMART INDIA HACKATHON 2026 • CYBERSECURITY DIVISION</a:t>
            </a:r>
          </a:p>
          <a:p>
            <a:pPr>
              <a:spcBef>
                <a:spcPts val="1200"/>
              </a:spcBef>
              <a:defRPr sz="4600" b="1">
                <a:solidFill>
                  <a:srgbClr val="F8FAFC"/>
                </a:solidFill>
              </a:defRPr>
            </a:pPr>
            <a:r>
              <a:t>PHISHGUARD SOC</a:t>
            </a:r>
          </a:p>
          <a:p>
            <a:pPr>
              <a:spcBef>
                <a:spcPts val="800"/>
              </a:spcBef>
              <a:defRPr sz="2000">
                <a:solidFill>
                  <a:srgbClr val="38BDF8"/>
                </a:solidFill>
              </a:defRPr>
            </a:pPr>
            <a:r>
              <a:t>AI-Powered Email Threat Detection, 3D Origin Geolocation &amp; Forensic Intelligence Platform</a:t>
            </a:r>
          </a:p>
          <a:p>
            <a:pPr>
              <a:spcBef>
                <a:spcPts val="1400"/>
              </a:spcBef>
              <a:defRPr sz="1500">
                <a:solidFill>
                  <a:srgbClr val="94A3B8"/>
                </a:solidFill>
              </a:defRPr>
            </a:pPr>
            <a:r>
              <a:t>From In-Inbox Threat Interception to Section 65B Court-Admissible Dossier in Under 2 Seconds</a:t>
            </a:r>
          </a:p>
          <a:p>
            <a:pPr>
              <a:spcBef>
                <a:spcPts val="3600"/>
              </a:spcBef>
              <a:defRPr sz="1300">
                <a:solidFill>
                  <a:srgbClr val="10B981"/>
                </a:solidFill>
              </a:defRPr>
            </a:pPr>
            <a:r>
              <a:t>Team: Binary Battalion  •  Problem Statement: Advanced Email Threat Attribution &amp; Forensic Analysis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lIns="0" tIns="0" rIns="0" bIns="0">
            <a:spAutoFit/>
          </a:bodyPr>
          <a:lstStyle/>
          <a:p>
            <a:pPr>
              <a:defRPr sz="1100" b="1">
                <a:solidFill>
                  <a:srgbClr val="38BDF8"/>
                </a:solidFill>
              </a:defRPr>
            </a:pPr>
            <a:r>
              <a:t>SMART INDIA HACKATHON 2026 | BINARY BATTALION</a:t>
            </a:r>
          </a:p>
          <a:p>
            <a:pPr>
              <a:spcBef>
                <a:spcPts val="400"/>
              </a:spcBef>
              <a:defRPr sz="2400" b="1">
                <a:solidFill>
                  <a:srgbClr val="F8FAFC"/>
                </a:solidFill>
              </a:defRPr>
            </a:pPr>
            <a:r>
              <a:t>The Threat Landscape: Weaponized Phishing &amp; Investigation Gaps</a:t>
            </a:r>
          </a:p>
        </p:txBody>
      </p:sp>
      <p:sp>
        <p:nvSpPr>
          <p:cNvPr id="4" name="TextBox 3"/>
          <p:cNvSpPr txBox="1"/>
          <p:nvPr/>
        </p:nvSpPr>
        <p:spPr>
          <a:xfrm>
            <a:off x="731520" y="1371600"/>
            <a:ext cx="4389120" cy="4937760"/>
          </a:xfrm>
          <a:prstGeom prst="rect">
            <a:avLst/>
          </a:prstGeom>
          <a:noFill/>
        </p:spPr>
        <p:txBody>
          <a:bodyPr wrap="square">
            <a:spAutoFit/>
          </a:bodyPr>
          <a:lstStyle/>
          <a:p>
            <a:pPr>
              <a:defRPr b="1" sz="1600">
                <a:solidFill>
                  <a:srgbClr val="EF4444"/>
                </a:solidFill>
              </a:defRPr>
            </a:pPr>
            <a:r>
              <a:t>91% of cyber attacks start with spear-phishing.</a:t>
            </a:r>
          </a:p>
          <a:p>
            <a:pPr>
              <a:spcBef>
                <a:spcPts val="1000"/>
              </a:spcBef>
              <a:defRPr b="1" sz="1300">
                <a:solidFill>
                  <a:srgbClr val="38BDF8"/>
                </a:solidFill>
              </a:defRPr>
            </a:pPr>
            <a:r>
              <a:t>• Indian Financial Scams: </a:t>
            </a:r>
            <a:r>
              <a:rPr b="0">
                <a:solidFill>
                  <a:srgbClr val="F8FAFC"/>
                </a:solidFill>
              </a:rPr>
              <a:t>Massive wave of fake SBI, HDFC, and Income Tax notices coercing victims into entering PAN &amp; Aadhaar.</a:t>
            </a:r>
          </a:p>
          <a:p>
            <a:pPr>
              <a:spcBef>
                <a:spcPts val="1000"/>
              </a:spcBef>
              <a:defRPr b="1" sz="1300">
                <a:solidFill>
                  <a:srgbClr val="38BDF8"/>
                </a:solidFill>
              </a:defRPr>
            </a:pPr>
            <a:r>
              <a:t>• CEO Fraud &amp; Wire Diversion: </a:t>
            </a:r>
            <a:r>
              <a:rPr b="0">
                <a:solidFill>
                  <a:srgbClr val="F8FAFC"/>
                </a:solidFill>
              </a:rPr>
              <a:t>Business Email Compromise (BEC) redirecting vendor payments to offshore accounts.</a:t>
            </a:r>
          </a:p>
          <a:p>
            <a:pPr>
              <a:spcBef>
                <a:spcPts val="1000"/>
              </a:spcBef>
              <a:defRPr b="1" sz="1300">
                <a:solidFill>
                  <a:srgbClr val="38BDF8"/>
                </a:solidFill>
              </a:defRPr>
            </a:pPr>
            <a:r>
              <a:t>• Dark-Web Bulletproof Hosting: </a:t>
            </a:r>
            <a:r>
              <a:rPr b="0">
                <a:solidFill>
                  <a:srgbClr val="F8FAFC"/>
                </a:solidFill>
              </a:rPr>
              <a:t>Attackers deploy disposable servers in non-extradition countries, evading domestic takedowns.</a:t>
            </a:r>
          </a:p>
          <a:p>
            <a:pPr>
              <a:spcBef>
                <a:spcPts val="1000"/>
              </a:spcBef>
              <a:defRPr b="1" sz="1300">
                <a:solidFill>
                  <a:srgbClr val="38BDF8"/>
                </a:solidFill>
              </a:defRPr>
            </a:pPr>
            <a:r>
              <a:t>• The Forensic Bottleneck: </a:t>
            </a:r>
            <a:r>
              <a:rPr b="0">
                <a:solidFill>
                  <a:srgbClr val="F8FAFC"/>
                </a:solidFill>
              </a:rPr>
              <a:t>Standard spam filters hide the evidence. Manual header analysis takes 2+ hours per incident, and evidence fails court admissibility.</a:t>
            </a:r>
          </a:p>
        </p:txBody>
      </p:sp>
      <p:pic>
        <p:nvPicPr>
          <p:cNvPr id="5" name="Picture 4" descr="phishing_threat_landscape_1788771206256.jpg"/>
          <p:cNvPicPr>
            <a:picLocks noChangeAspect="1"/>
          </p:cNvPicPr>
          <p:nvPr/>
        </p:nvPicPr>
        <p:blipFill>
          <a:blip r:embed="rId2"/>
          <a:stretch>
            <a:fillRect/>
          </a:stretch>
        </p:blipFill>
        <p:spPr>
          <a:xfrm>
            <a:off x="5303520" y="1371600"/>
            <a:ext cx="6217920" cy="3470467"/>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lIns="0" tIns="0" rIns="0" bIns="0">
            <a:spAutoFit/>
          </a:bodyPr>
          <a:lstStyle/>
          <a:p>
            <a:pPr>
              <a:defRPr sz="1100" b="1">
                <a:solidFill>
                  <a:srgbClr val="38BDF8"/>
                </a:solidFill>
              </a:defRPr>
            </a:pPr>
            <a:r>
              <a:t>SMART INDIA HACKATHON 2026 | BINARY BATTALION</a:t>
            </a:r>
          </a:p>
          <a:p>
            <a:pPr>
              <a:spcBef>
                <a:spcPts val="400"/>
              </a:spcBef>
              <a:defRPr sz="2400" b="1">
                <a:solidFill>
                  <a:srgbClr val="F8FAFC"/>
                </a:solidFill>
              </a:defRPr>
            </a:pPr>
            <a:r>
              <a:t>The Solution: PhishGuard Autonomous Forensic SOC</a:t>
            </a:r>
          </a:p>
        </p:txBody>
      </p:sp>
      <p:sp>
        <p:nvSpPr>
          <p:cNvPr id="4" name="Rounded Rectangle 3"/>
          <p:cNvSpPr/>
          <p:nvPr/>
        </p:nvSpPr>
        <p:spPr>
          <a:xfrm>
            <a:off x="731520" y="1463040"/>
            <a:ext cx="3383280" cy="2194560"/>
          </a:xfrm>
          <a:prstGeom prst="round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400" b="1">
                <a:solidFill>
                  <a:srgbClr val="38BDF8"/>
                </a:solidFill>
              </a:defRPr>
            </a:pPr>
            <a:r>
              <a:t>🛡️ In-Inbox Chrome Sentinel</a:t>
            </a:r>
          </a:p>
          <a:p>
            <a:pPr>
              <a:spcBef>
                <a:spcPts val="800"/>
              </a:spcBef>
              <a:defRPr sz="1100">
                <a:solidFill>
                  <a:srgbClr val="F8FAFC"/>
                </a:solidFill>
              </a:defRPr>
            </a:pPr>
            <a:r>
              <a:t>1-Click 'Scan with PhishGuard' injected directly into Gmail &amp; Outlook Web. Seamless citizen and enterprise protection with zero file uploads required.</a:t>
            </a:r>
          </a:p>
        </p:txBody>
      </p:sp>
      <p:sp>
        <p:nvSpPr>
          <p:cNvPr id="5" name="Rounded Rectangle 4"/>
          <p:cNvSpPr/>
          <p:nvPr/>
        </p:nvSpPr>
        <p:spPr>
          <a:xfrm>
            <a:off x="4389120" y="1463040"/>
            <a:ext cx="3383280" cy="219456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400" b="1">
                <a:solidFill>
                  <a:srgbClr val="10B981"/>
                </a:solidFill>
              </a:defRPr>
            </a:pPr>
            <a:r>
              <a:t>🧠 AI Semantic NLP Classifier</a:t>
            </a:r>
          </a:p>
          <a:p>
            <a:pPr>
              <a:spcBef>
                <a:spcPts val="800"/>
              </a:spcBef>
              <a:defRPr sz="1100">
                <a:solidFill>
                  <a:srgbClr val="F8FAFC"/>
                </a:solidFill>
              </a:defRPr>
            </a:pPr>
            <a:r>
              <a:t>Real-time natural language processing evaluating psychological urgency triggers, banking coercion, and executive wire diversion tactics.</a:t>
            </a:r>
          </a:p>
        </p:txBody>
      </p:sp>
      <p:sp>
        <p:nvSpPr>
          <p:cNvPr id="6" name="Rounded Rectangle 5"/>
          <p:cNvSpPr/>
          <p:nvPr/>
        </p:nvSpPr>
        <p:spPr>
          <a:xfrm>
            <a:off x="8046720" y="1463040"/>
            <a:ext cx="3383280" cy="2194560"/>
          </a:xfrm>
          <a:prstGeom prst="round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400" b="1">
                <a:solidFill>
                  <a:srgbClr val="38BDF8"/>
                </a:solidFill>
              </a:defRPr>
            </a:pPr>
            <a:r>
              <a:t>🌐 3D Global Origin Geolocation</a:t>
            </a:r>
          </a:p>
          <a:p>
            <a:pPr>
              <a:spcBef>
                <a:spcPts val="800"/>
              </a:spcBef>
              <a:defRPr sz="1100">
                <a:solidFill>
                  <a:srgbClr val="F8FAFC"/>
                </a:solidFill>
              </a:defRPr>
            </a:pPr>
            <a:r>
              <a:t>Automated hop-by-hop relay reconstruction mapping physical server origin, detecting bulletproof datacenters, and rendering 3D flight arcs.</a:t>
            </a:r>
          </a:p>
        </p:txBody>
      </p:sp>
      <p:sp>
        <p:nvSpPr>
          <p:cNvPr id="7" name="Rounded Rectangle 6"/>
          <p:cNvSpPr/>
          <p:nvPr/>
        </p:nvSpPr>
        <p:spPr>
          <a:xfrm>
            <a:off x="731520" y="3931920"/>
            <a:ext cx="3383280" cy="219456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400" b="1">
                <a:solidFill>
                  <a:srgbClr val="10B981"/>
                </a:solidFill>
              </a:defRPr>
            </a:pPr>
            <a:r>
              <a:t>🕸️ Campaign Attribution Graph</a:t>
            </a:r>
          </a:p>
          <a:p>
            <a:pPr>
              <a:spcBef>
                <a:spcPts val="800"/>
              </a:spcBef>
              <a:defRPr sz="1100">
                <a:solidFill>
                  <a:srgbClr val="F8FAFC"/>
                </a:solidFill>
              </a:defRPr>
            </a:pPr>
            <a:r>
              <a:t>Network graph theory correlating isolated phishing incidents across domains, IPs, and registrars to unmask coordinated crime syndicates.</a:t>
            </a:r>
          </a:p>
        </p:txBody>
      </p:sp>
      <p:sp>
        <p:nvSpPr>
          <p:cNvPr id="8" name="Rounded Rectangle 7"/>
          <p:cNvSpPr/>
          <p:nvPr/>
        </p:nvSpPr>
        <p:spPr>
          <a:xfrm>
            <a:off x="4389120" y="3931920"/>
            <a:ext cx="3383280" cy="2194560"/>
          </a:xfrm>
          <a:prstGeom prst="round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400" b="1">
                <a:solidFill>
                  <a:srgbClr val="38BDF8"/>
                </a:solidFill>
              </a:defRPr>
            </a:pPr>
            <a:r>
              <a:t>⚖️ Section 65B BSA Court Dossier</a:t>
            </a:r>
          </a:p>
          <a:p>
            <a:pPr>
              <a:spcBef>
                <a:spcPts val="800"/>
              </a:spcBef>
              <a:defRPr sz="1100">
                <a:solidFill>
                  <a:srgbClr val="F8FAFC"/>
                </a:solidFill>
              </a:defRPr>
            </a:pPr>
            <a:r>
              <a:t>Automated export of court-admissible digital forensic reports with SHA-256 evidence hashes adhering to Bharatiya Sakshya Adhiniyam standards.</a:t>
            </a:r>
          </a:p>
        </p:txBody>
      </p:sp>
      <p:sp>
        <p:nvSpPr>
          <p:cNvPr id="9" name="Rounded Rectangle 8"/>
          <p:cNvSpPr/>
          <p:nvPr/>
        </p:nvSpPr>
        <p:spPr>
          <a:xfrm>
            <a:off x="8046720" y="3931920"/>
            <a:ext cx="3383280" cy="219456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400" b="1">
                <a:solidFill>
                  <a:srgbClr val="10B981"/>
                </a:solidFill>
              </a:defRPr>
            </a:pPr>
            <a:r>
              <a:t>⚡ 1-Click Automated Playbooks</a:t>
            </a:r>
          </a:p>
          <a:p>
            <a:pPr>
              <a:spcBef>
                <a:spcPts val="800"/>
              </a:spcBef>
              <a:defRPr sz="1100">
                <a:solidFill>
                  <a:srgbClr val="F8FAFC"/>
                </a:solidFill>
              </a:defRPr>
            </a:pPr>
            <a:r>
              <a:t>Instant generation of firewall containment rules (iptables, Palo Alto, Cisco) to block attacker infrastructure across the entire organization in seconds.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lIns="0" tIns="0" rIns="0" bIns="0">
            <a:spAutoFit/>
          </a:bodyPr>
          <a:lstStyle/>
          <a:p>
            <a:pPr>
              <a:defRPr sz="1100" b="1">
                <a:solidFill>
                  <a:srgbClr val="38BDF8"/>
                </a:solidFill>
              </a:defRPr>
            </a:pPr>
            <a:r>
              <a:t>SMART INDIA HACKATHON 2026 | BINARY BATTALION</a:t>
            </a:r>
          </a:p>
          <a:p>
            <a:pPr>
              <a:spcBef>
                <a:spcPts val="400"/>
              </a:spcBef>
              <a:defRPr sz="2400" b="1">
                <a:solidFill>
                  <a:srgbClr val="F8FAFC"/>
                </a:solidFill>
              </a:defRPr>
            </a:pPr>
            <a:r>
              <a:t>System Architecture: The 5-Step Forensic Pipeline</a:t>
            </a:r>
          </a:p>
        </p:txBody>
      </p:sp>
      <p:pic>
        <p:nvPicPr>
          <p:cNvPr id="4" name="Picture 3" descr="soc_architecture_infographic_1788771148309.jpg"/>
          <p:cNvPicPr>
            <a:picLocks noChangeAspect="1"/>
          </p:cNvPicPr>
          <p:nvPr/>
        </p:nvPicPr>
        <p:blipFill>
          <a:blip r:embed="rId2"/>
          <a:stretch>
            <a:fillRect/>
          </a:stretch>
        </p:blipFill>
        <p:spPr>
          <a:xfrm>
            <a:off x="731520" y="1371600"/>
            <a:ext cx="10698480" cy="5971245"/>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lIns="0" tIns="0" rIns="0" bIns="0">
            <a:spAutoFit/>
          </a:bodyPr>
          <a:lstStyle/>
          <a:p>
            <a:pPr>
              <a:defRPr sz="1100" b="1">
                <a:solidFill>
                  <a:srgbClr val="38BDF8"/>
                </a:solidFill>
              </a:defRPr>
            </a:pPr>
            <a:r>
              <a:t>SMART INDIA HACKATHON 2026 | BINARY BATTALION</a:t>
            </a:r>
          </a:p>
          <a:p>
            <a:pPr>
              <a:spcBef>
                <a:spcPts val="400"/>
              </a:spcBef>
              <a:defRPr sz="2400" b="1">
                <a:solidFill>
                  <a:srgbClr val="F8FAFC"/>
                </a:solidFill>
              </a:defRPr>
            </a:pPr>
            <a:r>
              <a:t>Competitive Advantage: Beyond the Traditional Spam Filter</a:t>
            </a:r>
          </a:p>
        </p:txBody>
      </p:sp>
      <p:pic>
        <p:nvPicPr>
          <p:cNvPr id="4" name="Picture 3" descr="competitive_comparison_infographic_1788771180867.jpg"/>
          <p:cNvPicPr>
            <a:picLocks noChangeAspect="1"/>
          </p:cNvPicPr>
          <p:nvPr/>
        </p:nvPicPr>
        <p:blipFill>
          <a:blip r:embed="rId2"/>
          <a:stretch>
            <a:fillRect/>
          </a:stretch>
        </p:blipFill>
        <p:spPr>
          <a:xfrm>
            <a:off x="731520" y="1371600"/>
            <a:ext cx="10698480" cy="5971245"/>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lIns="0" tIns="0" rIns="0" bIns="0">
            <a:spAutoFit/>
          </a:bodyPr>
          <a:lstStyle/>
          <a:p>
            <a:pPr>
              <a:defRPr sz="1100" b="1">
                <a:solidFill>
                  <a:srgbClr val="38BDF8"/>
                </a:solidFill>
              </a:defRPr>
            </a:pPr>
            <a:r>
              <a:t>SMART INDIA HACKATHON 2026 | BINARY BATTALION</a:t>
            </a:r>
          </a:p>
          <a:p>
            <a:pPr>
              <a:spcBef>
                <a:spcPts val="400"/>
              </a:spcBef>
              <a:defRPr sz="2400" b="1">
                <a:solidFill>
                  <a:srgbClr val="F8FAFC"/>
                </a:solidFill>
              </a:defRPr>
            </a:pPr>
            <a:r>
              <a:t>Operational Proof: Real-World Attack Scenarios</a:t>
            </a:r>
          </a:p>
        </p:txBody>
      </p:sp>
      <p:sp>
        <p:nvSpPr>
          <p:cNvPr id="4" name="Rounded Rectangle 3"/>
          <p:cNvSpPr/>
          <p:nvPr/>
        </p:nvSpPr>
        <p:spPr>
          <a:xfrm>
            <a:off x="731520" y="1463040"/>
            <a:ext cx="5120640" cy="2194560"/>
          </a:xfrm>
          <a:prstGeom prst="roundRect">
            <a:avLst/>
          </a:prstGeom>
          <a:solidFill>
            <a:srgbClr val="0F172A"/>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400" b="1">
                <a:solidFill>
                  <a:srgbClr val="EF4444"/>
                </a:solidFill>
              </a:defRPr>
            </a:pPr>
            <a:r>
              <a:t>Scenario 1: Indian Banking &amp; KYC Fraud</a:t>
            </a:r>
          </a:p>
          <a:p>
            <a:pPr>
              <a:spcBef>
                <a:spcPts val="600"/>
              </a:spcBef>
              <a:defRPr sz="1100">
                <a:solidFill>
                  <a:srgbClr val="F8FAFC"/>
                </a:solidFill>
              </a:defRPr>
            </a:pPr>
            <a:r>
              <a:t>Target: SBI NetBanking Users</a:t>
            </a:r>
            <a:br/>
            <a:r>
              <a:t>• Mechanism: Panicking users with 24-hr account suspension notice.</a:t>
            </a:r>
            <a:br/>
            <a:r>
              <a:t>• Forensic Finding: Spoofed 'sbi-kyc-update.com' + SPF Fail + Origin in St. Petersburg Datacenter (45.155.204.12).</a:t>
            </a:r>
            <a:br/>
            <a:r>
              <a:t>• Outcome: Instant Critical Threat alert + Section 65B police FIR draft.</a:t>
            </a:r>
          </a:p>
        </p:txBody>
      </p:sp>
      <p:sp>
        <p:nvSpPr>
          <p:cNvPr id="5" name="Rounded Rectangle 4"/>
          <p:cNvSpPr/>
          <p:nvPr/>
        </p:nvSpPr>
        <p:spPr>
          <a:xfrm>
            <a:off x="6126480" y="1463040"/>
            <a:ext cx="5120640" cy="2194560"/>
          </a:xfrm>
          <a:prstGeom prst="round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400" b="1">
                <a:solidFill>
                  <a:srgbClr val="38BDF8"/>
                </a:solidFill>
              </a:defRPr>
            </a:pPr>
            <a:r>
              <a:t>Scenario 2: Cross-Campaign Syndicate Discovery</a:t>
            </a:r>
          </a:p>
          <a:p>
            <a:pPr>
              <a:spcBef>
                <a:spcPts val="600"/>
              </a:spcBef>
              <a:defRPr sz="1100">
                <a:solidFill>
                  <a:srgbClr val="F8FAFC"/>
                </a:solidFill>
              </a:defRPr>
            </a:pPr>
            <a:r>
              <a:t>Target: Banking &amp; Corporate Enterprise</a:t>
            </a:r>
            <a:br/>
            <a:r>
              <a:t>• Mechanism: Microsoft 365 credential harvesting and PayPal payment fraud.</a:t>
            </a:r>
            <a:br/>
            <a:r>
              <a:t>• Forensic Finding: NetworkX graph links both separate emails to the exact same bulletproof IP!</a:t>
            </a:r>
            <a:br/>
            <a:r>
              <a:t>• Outcome: Unmasks entire transnational attack cluster.</a:t>
            </a:r>
          </a:p>
        </p:txBody>
      </p:sp>
      <p:sp>
        <p:nvSpPr>
          <p:cNvPr id="6" name="Rounded Rectangle 5"/>
          <p:cNvSpPr/>
          <p:nvPr/>
        </p:nvSpPr>
        <p:spPr>
          <a:xfrm>
            <a:off x="731520" y="3931920"/>
            <a:ext cx="5120640" cy="2194560"/>
          </a:xfrm>
          <a:prstGeom prst="roundRect">
            <a:avLst/>
          </a:prstGeom>
          <a:solidFill>
            <a:srgbClr val="0F172A"/>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400" b="1">
                <a:solidFill>
                  <a:srgbClr val="EF4444"/>
                </a:solidFill>
              </a:defRPr>
            </a:pPr>
            <a:r>
              <a:t>Scenario 3: Executive BEC Wire Transfer Diversion</a:t>
            </a:r>
          </a:p>
          <a:p>
            <a:pPr>
              <a:spcBef>
                <a:spcPts val="600"/>
              </a:spcBef>
              <a:defRPr sz="1100">
                <a:solidFill>
                  <a:srgbClr val="F8FAFC"/>
                </a:solidFill>
              </a:defRPr>
            </a:pPr>
            <a:r>
              <a:t>Target: Corporate Finance Department</a:t>
            </a:r>
            <a:br/>
            <a:r>
              <a:t>• Mechanism: CFO impersonation demanding emergency offshore wire transfer.</a:t>
            </a:r>
            <a:br/>
            <a:r>
              <a:t>• Forensic Finding: NLP detects financial diversion cues; Origin resolves to an anonymized Tor exit node (185.220.101.5).</a:t>
            </a:r>
            <a:br/>
            <a:r>
              <a:t>• Outcome: Blocked before financial transaction executes.</a:t>
            </a:r>
          </a:p>
        </p:txBody>
      </p:sp>
      <p:sp>
        <p:nvSpPr>
          <p:cNvPr id="7" name="Rounded Rectangle 6"/>
          <p:cNvSpPr/>
          <p:nvPr/>
        </p:nvSpPr>
        <p:spPr>
          <a:xfrm>
            <a:off x="6126480" y="3931920"/>
            <a:ext cx="5120640" cy="219456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ctr">
              <a:defRPr sz="1400" b="1">
                <a:solidFill>
                  <a:srgbClr val="10B981"/>
                </a:solidFill>
              </a:defRPr>
            </a:pPr>
            <a:r>
              <a:t>Scenario 4: Live In-Inbox Gmail Sentinel Audit</a:t>
            </a:r>
          </a:p>
          <a:p>
            <a:pPr>
              <a:spcBef>
                <a:spcPts val="600"/>
              </a:spcBef>
              <a:defRPr sz="1100">
                <a:solidFill>
                  <a:srgbClr val="F8FAFC"/>
                </a:solidFill>
              </a:defRPr>
            </a:pPr>
            <a:r>
              <a:t>Target: Daily Consumer Mailbox</a:t>
            </a:r>
            <a:br/>
            <a:r>
              <a:t>• Mechanism: Real promotional &amp; corporate emails audited via Chrome Extension.</a:t>
            </a:r>
            <a:br/>
            <a:r>
              <a:t>• Forensic Finding: Automated Mail Gateway DNS resolution pinpoints server coordinates in California.</a:t>
            </a:r>
            <a:br/>
            <a:r>
              <a:t>• Outcome: Proves zero-friction 1-click real-world usability.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lIns="0" tIns="0" rIns="0" bIns="0">
            <a:spAutoFit/>
          </a:bodyPr>
          <a:lstStyle/>
          <a:p>
            <a:pPr>
              <a:defRPr sz="1100" b="1">
                <a:solidFill>
                  <a:srgbClr val="38BDF8"/>
                </a:solidFill>
              </a:defRPr>
            </a:pPr>
            <a:r>
              <a:t>SMART INDIA HACKATHON 2026 | BINARY BATTALION</a:t>
            </a:r>
          </a:p>
          <a:p>
            <a:pPr>
              <a:spcBef>
                <a:spcPts val="400"/>
              </a:spcBef>
              <a:defRPr sz="2400" b="1">
                <a:solidFill>
                  <a:srgbClr val="F8FAFC"/>
                </a:solidFill>
              </a:defRPr>
            </a:pPr>
            <a:r>
              <a:t>Legal Admissibility, Standards Compliance &amp; Tech Stack</a:t>
            </a:r>
          </a:p>
        </p:txBody>
      </p:sp>
      <p:sp>
        <p:nvSpPr>
          <p:cNvPr id="4" name="Rounded Rectangle 3"/>
          <p:cNvSpPr/>
          <p:nvPr/>
        </p:nvSpPr>
        <p:spPr>
          <a:xfrm>
            <a:off x="731520" y="1463040"/>
            <a:ext cx="5120640" cy="4754880"/>
          </a:xfrm>
          <a:prstGeom prst="round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defRPr sz="1600" b="1">
                <a:solidFill>
                  <a:srgbClr val="38BDF8"/>
                </a:solidFill>
              </a:defRPr>
            </a:pPr>
            <a:r>
              <a:t>🏛️ Sovereign Legal &amp; Regulatory Framework</a:t>
            </a:r>
          </a:p>
          <a:p>
            <a:pPr>
              <a:spcBef>
                <a:spcPts val="1000"/>
              </a:spcBef>
              <a:defRPr b="1" sz="1300">
                <a:solidFill>
                  <a:srgbClr val="38BDF8"/>
                </a:solidFill>
              </a:defRPr>
            </a:pPr>
            <a:r>
              <a:t>• Section 65B BSA (India): </a:t>
            </a:r>
            <a:r>
              <a:rPr b="0">
                <a:solidFill>
                  <a:srgbClr val="F8FAFC"/>
                </a:solidFill>
              </a:rPr>
              <a:t>Tamper-evident SHA-256 and MD5 chain-of-custody hashes adhering to Bharatiya Sakshya Adhiniyam standards for digital evidence.</a:t>
            </a:r>
          </a:p>
          <a:p>
            <a:pPr>
              <a:spcBef>
                <a:spcPts val="1000"/>
              </a:spcBef>
              <a:defRPr b="1" sz="1300">
                <a:solidFill>
                  <a:srgbClr val="38BDF8"/>
                </a:solidFill>
              </a:defRPr>
            </a:pPr>
            <a:r>
              <a:t>• IT Act, 2000 Compliance: </a:t>
            </a:r>
            <a:r>
              <a:rPr b="0">
                <a:solidFill>
                  <a:srgbClr val="F8FAFC"/>
                </a:solidFill>
              </a:rPr>
              <a:t>Maps evidence to Section 66C (Identity Theft) and Section 66D (Cheating by Personation Using Computer Resource).</a:t>
            </a:r>
          </a:p>
          <a:p>
            <a:pPr>
              <a:spcBef>
                <a:spcPts val="1000"/>
              </a:spcBef>
              <a:defRPr b="1" sz="1300">
                <a:solidFill>
                  <a:srgbClr val="38BDF8"/>
                </a:solidFill>
              </a:defRPr>
            </a:pPr>
            <a:r>
              <a:t>• CERT-In Threat Package: </a:t>
            </a:r>
            <a:r>
              <a:rPr b="0">
                <a:solidFill>
                  <a:srgbClr val="F8FAFC"/>
                </a:solidFill>
              </a:rPr>
              <a:t>Generates standardized machine-readable JSON IOC packages for national incident coordination.</a:t>
            </a:r>
          </a:p>
          <a:p>
            <a:pPr>
              <a:spcBef>
                <a:spcPts val="1000"/>
              </a:spcBef>
              <a:defRPr b="1" sz="1300">
                <a:solidFill>
                  <a:srgbClr val="38BDF8"/>
                </a:solidFill>
              </a:defRPr>
            </a:pPr>
            <a:r>
              <a:t>• ISO/IEC 27037 Standard: </a:t>
            </a:r>
            <a:r>
              <a:rPr b="0">
                <a:solidFill>
                  <a:srgbClr val="F8FAFC"/>
                </a:solidFill>
              </a:rPr>
              <a:t>Conforms to international digital evidence preservation and handling guidelines.</a:t>
            </a:r>
          </a:p>
        </p:txBody>
      </p:sp>
      <p:sp>
        <p:nvSpPr>
          <p:cNvPr id="5" name="Rounded Rectangle 4"/>
          <p:cNvSpPr/>
          <p:nvPr/>
        </p:nvSpPr>
        <p:spPr>
          <a:xfrm>
            <a:off x="6309360" y="1463040"/>
            <a:ext cx="5120640" cy="475488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ctr">
              <a:defRPr sz="1600" b="1">
                <a:solidFill>
                  <a:srgbClr val="10B981"/>
                </a:solidFill>
              </a:defRPr>
            </a:pPr>
            <a:r>
              <a:t>⚙️ Production Technology Stack</a:t>
            </a:r>
          </a:p>
          <a:p>
            <a:pPr>
              <a:spcBef>
                <a:spcPts val="1000"/>
              </a:spcBef>
              <a:defRPr b="1" sz="1300">
                <a:solidFill>
                  <a:srgbClr val="38BDF8"/>
                </a:solidFill>
              </a:defRPr>
            </a:pPr>
            <a:r>
              <a:t>• In-Inbox Extension: </a:t>
            </a:r>
            <a:r>
              <a:rPr b="0">
                <a:solidFill>
                  <a:srgbClr val="F8FAFC"/>
                </a:solidFill>
              </a:rPr>
              <a:t>Chrome Manifest V3, Service Workers, DOM Observers (Gmail &amp; Outlook Web support).</a:t>
            </a:r>
          </a:p>
          <a:p>
            <a:pPr>
              <a:spcBef>
                <a:spcPts val="1000"/>
              </a:spcBef>
              <a:defRPr b="1" sz="1300">
                <a:solidFill>
                  <a:srgbClr val="38BDF8"/>
                </a:solidFill>
              </a:defRPr>
            </a:pPr>
            <a:r>
              <a:t>• AI &amp; Machine Learning: </a:t>
            </a:r>
            <a:r>
              <a:rPr b="0">
                <a:solidFill>
                  <a:srgbClr val="F8FAFC"/>
                </a:solidFill>
              </a:rPr>
              <a:t>Scikit-Learn TF-IDF NLP model, heuristic banking threat categorization, social engineering urgency scoring.</a:t>
            </a:r>
          </a:p>
          <a:p>
            <a:pPr>
              <a:spcBef>
                <a:spcPts val="1000"/>
              </a:spcBef>
              <a:defRPr b="1" sz="1300">
                <a:solidFill>
                  <a:srgbClr val="38BDF8"/>
                </a:solidFill>
              </a:defRPr>
            </a:pPr>
            <a:r>
              <a:t>• Graph Theory &amp; Correlation: </a:t>
            </a:r>
            <a:r>
              <a:rPr b="0">
                <a:solidFill>
                  <a:srgbClr val="F8FAFC"/>
                </a:solidFill>
              </a:rPr>
              <a:t>NetworkX graph clustering + Vis.js physics-driven interactive network simulation.</a:t>
            </a:r>
          </a:p>
          <a:p>
            <a:pPr>
              <a:spcBef>
                <a:spcPts val="1000"/>
              </a:spcBef>
              <a:defRPr b="1" sz="1300">
                <a:solidFill>
                  <a:srgbClr val="38BDF8"/>
                </a:solidFill>
              </a:defRPr>
            </a:pPr>
            <a:r>
              <a:t>• 3D Visualization: </a:t>
            </a:r>
            <a:r>
              <a:rPr b="0">
                <a:solidFill>
                  <a:srgbClr val="F8FAFC"/>
                </a:solidFill>
              </a:rPr>
              <a:t>Pydeck (Uber Deck.gl engine) rendering 3D global flight trajectory arcs on Carto Dark Matter tiles.</a:t>
            </a:r>
          </a:p>
          <a:p>
            <a:pPr>
              <a:spcBef>
                <a:spcPts val="1000"/>
              </a:spcBef>
              <a:defRPr b="1" sz="1300">
                <a:solidFill>
                  <a:srgbClr val="38BDF8"/>
                </a:solidFill>
              </a:defRPr>
            </a:pPr>
            <a:r>
              <a:t>• Forensic Reporting: </a:t>
            </a:r>
            <a:r>
              <a:rPr b="0">
                <a:solidFill>
                  <a:srgbClr val="F8FAFC"/>
                </a:solidFill>
              </a:rPr>
              <a:t>ReportLab PDF Engine generating court-certified digital evidence dossiers.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914400"/>
          </a:xfrm>
          <a:prstGeom prst="rect">
            <a:avLst/>
          </a:prstGeom>
          <a:noFill/>
        </p:spPr>
        <p:txBody>
          <a:bodyPr wrap="square" lIns="0" tIns="0" rIns="0" bIns="0">
            <a:spAutoFit/>
          </a:bodyPr>
          <a:lstStyle/>
          <a:p>
            <a:pPr>
              <a:defRPr sz="1100" b="1">
                <a:solidFill>
                  <a:srgbClr val="38BDF8"/>
                </a:solidFill>
              </a:defRPr>
            </a:pPr>
            <a:r>
              <a:t>SMART INDIA HACKATHON 2026 | BINARY BATTALION</a:t>
            </a:r>
          </a:p>
          <a:p>
            <a:pPr>
              <a:spcBef>
                <a:spcPts val="400"/>
              </a:spcBef>
              <a:defRPr sz="2400" b="1">
                <a:solidFill>
                  <a:srgbClr val="F8FAFC"/>
                </a:solidFill>
              </a:defRPr>
            </a:pPr>
            <a:r>
              <a:t>Future Roadmap, National Impact &amp; Conclusion</a:t>
            </a:r>
          </a:p>
        </p:txBody>
      </p:sp>
      <p:sp>
        <p:nvSpPr>
          <p:cNvPr id="4" name="Rounded Rectangle 3"/>
          <p:cNvSpPr/>
          <p:nvPr/>
        </p:nvSpPr>
        <p:spPr>
          <a:xfrm>
            <a:off x="731520" y="1463040"/>
            <a:ext cx="5120640" cy="1737360"/>
          </a:xfrm>
          <a:prstGeom prst="round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defRPr sz="1300" b="1">
                <a:solidFill>
                  <a:srgbClr val="38BDF8"/>
                </a:solidFill>
              </a:defRPr>
            </a:pPr>
            <a:r>
              <a:t>🇮🇳 National Cyber Portal (cybercrime.gov.in)</a:t>
            </a:r>
          </a:p>
          <a:p>
            <a:pPr>
              <a:spcBef>
                <a:spcPts val="400"/>
              </a:spcBef>
              <a:defRPr sz="1050">
                <a:solidFill>
                  <a:srgbClr val="F8FAFC"/>
                </a:solidFill>
              </a:defRPr>
            </a:pPr>
            <a:r>
              <a:t>1-Click automated FIR filing pipeline generating pre-filled police incident reports directly for the Ministry of Home Affairs NCRP portal.</a:t>
            </a:r>
          </a:p>
        </p:txBody>
      </p:sp>
      <p:sp>
        <p:nvSpPr>
          <p:cNvPr id="5" name="Rounded Rectangle 4"/>
          <p:cNvSpPr/>
          <p:nvPr/>
        </p:nvSpPr>
        <p:spPr>
          <a:xfrm>
            <a:off x="6126480" y="1463040"/>
            <a:ext cx="5120640" cy="173736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defRPr sz="1300" b="1">
                <a:solidFill>
                  <a:srgbClr val="10B981"/>
                </a:solidFill>
              </a:defRPr>
            </a:pPr>
            <a:r>
              <a:t>📱 Computer Vision 'Quishing' Scanner</a:t>
            </a:r>
          </a:p>
          <a:p>
            <a:pPr>
              <a:spcBef>
                <a:spcPts val="400"/>
              </a:spcBef>
              <a:defRPr sz="1050">
                <a:solidFill>
                  <a:srgbClr val="F8FAFC"/>
                </a:solidFill>
              </a:defRPr>
            </a:pPr>
            <a:r>
              <a:t>Deep-scan engine detecting malicious QR codes embedded in email images designed to bypass text filters and trigger fraudulent UPI payments.</a:t>
            </a:r>
          </a:p>
        </p:txBody>
      </p:sp>
      <p:sp>
        <p:nvSpPr>
          <p:cNvPr id="6" name="Rounded Rectangle 5"/>
          <p:cNvSpPr/>
          <p:nvPr/>
        </p:nvSpPr>
        <p:spPr>
          <a:xfrm>
            <a:off x="731520" y="3474720"/>
            <a:ext cx="5120640" cy="1737360"/>
          </a:xfrm>
          <a:prstGeom prst="roundRect">
            <a:avLst/>
          </a:prstGeom>
          <a:solidFill>
            <a:srgbClr val="0F172A"/>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defRPr sz="1300" b="1">
                <a:solidFill>
                  <a:srgbClr val="38BDF8"/>
                </a:solidFill>
              </a:defRPr>
            </a:pPr>
            <a:r>
              <a:t>🤖 Autonomous AI Counter-Scammer</a:t>
            </a:r>
          </a:p>
          <a:p>
            <a:pPr>
              <a:spcBef>
                <a:spcPts val="400"/>
              </a:spcBef>
              <a:defRPr sz="1050">
                <a:solidFill>
                  <a:srgbClr val="F8FAFC"/>
                </a:solidFill>
              </a:defRPr>
            </a:pPr>
            <a:r>
              <a:t>Autonomous honeypot bot that engages scammers with believable decoy responses to extract their real bank accounts and UPI IDs for law enforcement.</a:t>
            </a:r>
          </a:p>
        </p:txBody>
      </p:sp>
      <p:sp>
        <p:nvSpPr>
          <p:cNvPr id="7" name="Rounded Rectangle 6"/>
          <p:cNvSpPr/>
          <p:nvPr/>
        </p:nvSpPr>
        <p:spPr>
          <a:xfrm>
            <a:off x="6126480" y="3474720"/>
            <a:ext cx="5120640" cy="1737360"/>
          </a:xfrm>
          <a:prstGeom prst="roundRect">
            <a:avLst/>
          </a:prstGeom>
          <a:solidFill>
            <a:srgbClr val="0F172A"/>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64592" bIns="164592"/>
          <a:lstStyle/>
          <a:p>
            <a:pPr algn="ctr">
              <a:defRPr sz="1300" b="1">
                <a:solidFill>
                  <a:srgbClr val="10B981"/>
                </a:solidFill>
              </a:defRPr>
            </a:pPr>
            <a:r>
              <a:t>🏢 Enterprise SIEM &amp; SOAR Connectors</a:t>
            </a:r>
          </a:p>
          <a:p>
            <a:pPr>
              <a:spcBef>
                <a:spcPts val="400"/>
              </a:spcBef>
              <a:defRPr sz="1050">
                <a:solidFill>
                  <a:srgbClr val="F8FAFC"/>
                </a:solidFill>
              </a:defRPr>
            </a:pPr>
            <a:r>
              <a:t>Native telemetry export to enterprise security centers via Splunk, IBM QRadar, Microsoft Sentinel, and Cisco SecureX.</a:t>
            </a:r>
          </a:p>
        </p:txBody>
      </p:sp>
      <p:sp>
        <p:nvSpPr>
          <p:cNvPr id="8" name="Rounded Rectangle 7"/>
          <p:cNvSpPr/>
          <p:nvPr/>
        </p:nvSpPr>
        <p:spPr>
          <a:xfrm>
            <a:off x="731520" y="5577840"/>
            <a:ext cx="10698480" cy="822960"/>
          </a:xfrm>
          <a:prstGeom prst="roundRect">
            <a:avLst/>
          </a:prstGeom>
          <a:solidFill>
            <a:srgbClr val="172554"/>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8FAFC"/>
                </a:solidFill>
              </a:defRPr>
            </a:pPr>
            <a:r>
              <a:t>🏆 PhishGuard: Empowering India's Cyber Defense from Inbox to Courtroom. 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